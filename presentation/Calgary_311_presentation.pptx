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5f62c6e0504f76" /><Relationship Type="http://schemas.openxmlformats.org/officeDocument/2006/relationships/extended-properties" Target="/docProps/app.xml" Id="R29c2cc73a6aa4161" /><Relationship Type="http://schemas.openxmlformats.org/officeDocument/2006/relationships/officeDocument" Target="/ppt/presentation.xml" Id="R1ab874722e08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413aa57ca437d"/>
  </p:sldMasterIdLst>
  <p:notesMasterIdLst>
    <p:notesMasterId xmlns:r="http://schemas.openxmlformats.org/officeDocument/2006/relationships" r:id="R99d5c556752f4b57"/>
  </p:notesMasterIdLst>
  <p:sldIdLst>
    <p:sldId xmlns:r="http://schemas.openxmlformats.org/officeDocument/2006/relationships" id="256" r:id="Re7ad6d09fcff4d90"/>
    <p:sldId xmlns:r="http://schemas.openxmlformats.org/officeDocument/2006/relationships" id="257" r:id="R90eee45185234147"/>
    <p:sldId xmlns:r="http://schemas.openxmlformats.org/officeDocument/2006/relationships" id="258" r:id="Rab59d31e752e4cb6"/>
    <p:sldId xmlns:r="http://schemas.openxmlformats.org/officeDocument/2006/relationships" id="259" r:id="R23e968a0ba374879"/>
    <p:sldId xmlns:r="http://schemas.openxmlformats.org/officeDocument/2006/relationships" id="260" r:id="R0736a714057e46d0"/>
    <p:sldId xmlns:r="http://schemas.openxmlformats.org/officeDocument/2006/relationships" id="261" r:id="R0aec3645487d44ab"/>
    <p:sldId xmlns:r="http://schemas.openxmlformats.org/officeDocument/2006/relationships" id="262" r:id="R7a5defa3d9b54e50"/>
    <p:sldId xmlns:r="http://schemas.openxmlformats.org/officeDocument/2006/relationships" id="263" r:id="R77d53cd97e214ba1"/>
    <p:sldId xmlns:r="http://schemas.openxmlformats.org/officeDocument/2006/relationships" id="264" r:id="R6429088fdf39444b"/>
    <p:sldId xmlns:r="http://schemas.openxmlformats.org/officeDocument/2006/relationships" id="265" r:id="R890d0dc2da994c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4f66dd2d0481a" /><Relationship Type="http://schemas.openxmlformats.org/officeDocument/2006/relationships/slideMaster" Target="/ppt/slideMasters/slideMaster1.xml" Id="R590413aa57ca437d" /><Relationship Type="http://schemas.openxmlformats.org/officeDocument/2006/relationships/notesMaster" Target="/ppt/notesMasters/notesMaster1.xml" Id="R99d5c556752f4b57" /><Relationship Type="http://schemas.openxmlformats.org/officeDocument/2006/relationships/presProps" Target="/ppt/presProps.xml" Id="R59fae843183f4fc4" /><Relationship Type="http://schemas.openxmlformats.org/officeDocument/2006/relationships/viewProps" Target="/ppt/viewProps.xml" Id="R25013171be3a4439" /><Relationship Type="http://schemas.openxmlformats.org/officeDocument/2006/relationships/tableStyles" Target="/ppt/tableStyles.xml" Id="Rc812d69b71c14860" /><Relationship Type="http://schemas.openxmlformats.org/officeDocument/2006/relationships/slide" Target="/ppt/slides/slide1.xml" Id="Re7ad6d09fcff4d90" /><Relationship Type="http://schemas.openxmlformats.org/officeDocument/2006/relationships/slide" Target="/ppt/slides/slide2.xml" Id="R90eee45185234147" /><Relationship Type="http://schemas.openxmlformats.org/officeDocument/2006/relationships/slide" Target="/ppt/slides/slide3.xml" Id="Rab59d31e752e4cb6" /><Relationship Type="http://schemas.openxmlformats.org/officeDocument/2006/relationships/slide" Target="/ppt/slides/slide4.xml" Id="R23e968a0ba374879" /><Relationship Type="http://schemas.openxmlformats.org/officeDocument/2006/relationships/slide" Target="/ppt/slides/slide5.xml" Id="R0736a714057e46d0" /><Relationship Type="http://schemas.openxmlformats.org/officeDocument/2006/relationships/slide" Target="/ppt/slides/slide6.xml" Id="R0aec3645487d44ab" /><Relationship Type="http://schemas.openxmlformats.org/officeDocument/2006/relationships/slide" Target="/ppt/slides/slide7.xml" Id="R7a5defa3d9b54e50" /><Relationship Type="http://schemas.openxmlformats.org/officeDocument/2006/relationships/slide" Target="/ppt/slides/slide8.xml" Id="R77d53cd97e214ba1" /><Relationship Type="http://schemas.openxmlformats.org/officeDocument/2006/relationships/slide" Target="/ppt/slides/slide9.xml" Id="R6429088fdf39444b" /><Relationship Type="http://schemas.openxmlformats.org/officeDocument/2006/relationships/slide" Target="/ppt/slides/slide10.xml" Id="R890d0dc2da994c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f6848a74fb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9ec21337641a8" /><Relationship Type="http://schemas.openxmlformats.org/officeDocument/2006/relationships/notesMaster" Target="/ppt/notesMasters/notesMaster1.xml" Id="R07f03b710e2445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8bff8cb7174aba" /><Relationship Type="http://schemas.openxmlformats.org/officeDocument/2006/relationships/notesMaster" Target="/ppt/notesMasters/notesMaster1.xml" Id="R9baf64da9fbb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09844d17f84629" /><Relationship Type="http://schemas.openxmlformats.org/officeDocument/2006/relationships/notesMaster" Target="/ppt/notesMasters/notesMaster1.xml" Id="R7e58a7f396f8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7a9712e984e82" /><Relationship Type="http://schemas.openxmlformats.org/officeDocument/2006/relationships/notesMaster" Target="/ppt/notesMasters/notesMaster1.xml" Id="R08f78ba01ba0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d84ea0b6984208" /><Relationship Type="http://schemas.openxmlformats.org/officeDocument/2006/relationships/notesMaster" Target="/ppt/notesMasters/notesMaster1.xml" Id="R54ff96f99aca4c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98e0ac578e44b6" /><Relationship Type="http://schemas.openxmlformats.org/officeDocument/2006/relationships/notesMaster" Target="/ppt/notesMasters/notesMaster1.xml" Id="R1d5c126c48fe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8252c1db5b4de7" /><Relationship Type="http://schemas.openxmlformats.org/officeDocument/2006/relationships/notesMaster" Target="/ppt/notesMasters/notesMaster1.xml" Id="Re0dd90197d2d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e1ef23ac14140" /><Relationship Type="http://schemas.openxmlformats.org/officeDocument/2006/relationships/notesMaster" Target="/ppt/notesMasters/notesMaster1.xml" Id="R2d9275386f17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fa98ef5124458d" /><Relationship Type="http://schemas.openxmlformats.org/officeDocument/2006/relationships/notesMaster" Target="/ppt/notesMasters/notesMaster1.xml" Id="R10888f88604743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84416fc70b4420" /><Relationship Type="http://schemas.openxmlformats.org/officeDocument/2006/relationships/notesMaster" Target="/ppt/notesMasters/notesMaster1.xml" Id="R26beff294965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0:30]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Отвори со практичната цел: не бараме само кој модел има најдобар score, туку што можеме сигурно да кажеме за јавната побарувачка. Најави ги четирите прашања.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Извори:</a:t>
            </a:r>
            <a:endParaRPr/>
          </a:p>
          <a:p xmlns:a="http://schemas.openxmlformats.org/drawingml/2006/main">
            <a:r>
              <a:t>• Фотографија: Daniel from Glasgow, Calgary in Winter, CC BY 2.0 — https://commons.wikimedia.org/wiki/File:Calgary_in_Winter_(31054898060).jpg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[Предвидено време: 0:50]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Покажи дека задачите се различни: Q1 е count-регресија, Q2 и Q3 се небалансирани класификации, а Q4 е неконтролирано учење. Нагласи дека секоја бара различна цел, поделба и метрика.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Извори: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City of Calgary 311 Service Requests — https://data.calgary.ca/Services-and-Amenities/311-Service-Requests/iahh-g8bj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Open-Meteo Historical Weather API — https://open-meteo.com/en/docs/historical-weather-api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[Предвидено време: 1:05]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Објасни зошто случајна поделба не е соодветна: иднината не смее да влијае врз минатото. Прагот за high-demand е 95-тиот перцентил на train. За Q3, closure date се користи само за label, никогаш како влез.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Извори: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Hyndman &amp; Athanasopoulos, Time series cross-validation — https://otexts.com/fpp3/tscv.html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Bergmeir et al. (2018), doi:10.1016/j.csda.2017.11.003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Open-Meteo ERA5 documentation — https://open-meteo.com/en/docs/historical-weather-api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Прочитај го графикот во единици: Poisson греши во просек околу 68 барања дневно, наспроти 105 за baseline. R² од 0.296 е умерен — не треба да се претстави како целосно објаснување. Спомни го задоцнетиот ефект на температурата.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Извори:</a:t>
            </a:r>
          </a:p>
          <a:p xmlns:a="http://schemas.openxmlformats.org/drawingml/2006/main">
            <a:r>
              <a:t>• Резултати од outputs/model_metrics.csv и outputs/analysis_results.json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1:05]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Објасни зошто accuracy не е корисна при 2.36% позитивна класа. Weather-only RF фаќа 80% од високите денови, но precision е 9.3%. Тоа е добро за широк screening, не за автоматска одлука. Предупреди дека има само пет позитивни test дена.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Извори:</a:t>
            </a:r>
          </a:p>
          <a:p xmlns:a="http://schemas.openxmlformats.org/drawingml/2006/main">
            <a:r>
              <a:t>• Saito &amp; Rehmsmeier (2015), doi:10.1371/journal.pone.0118432</a:t>
            </a:r>
          </a:p>
          <a:p xmlns:a="http://schemas.openxmlformats.org/drawingml/2006/main">
            <a:r>
              <a:t>• Breiman (2001), Random Forests, doi:10.1023/A:1010933404324</a:t>
            </a:r>
          </a:p>
          <a:p xmlns:a="http://schemas.openxmlformats.org/drawingml/2006/main">
            <a:r>
              <a:t>• Резултати од outputs/model_metrics.csv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1:15]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Нагласи го trade-off-от: logistic има повисок precision и подобро рангирање; tree има висок recall со многу повеќе false alarms. Најважни се видот на услугата и agency. Објасни ја ограничената семантика на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Извори:</a:t>
            </a:r>
          </a:p>
          <a:p xmlns:a="http://schemas.openxmlformats.org/drawingml/2006/main">
            <a:r>
              <a:t>• City of Calgary 311 FAQs — https://www.calgary.ca/311/faqs.html</a:t>
            </a:r>
          </a:p>
          <a:p xmlns:a="http://schemas.openxmlformats.org/drawingml/2006/main">
            <a:r>
              <a:t>• Резултати од outputs/analysis_results.json и outputs/model_metrics.csv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[Предвидено време: 1:05]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Опиши ги кластерите како профили, не како природни категории. Silhouette 0.282 значи умерено разделување. Ward ARI е добар, но temporal ARI околу 0.41 предупредува дека групите се менуваат. Нормализираниот service mix спречува резултатот да биде само ефект од големината.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Извори: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Rousseeuw (1987), Silhouettes, doi:10.1016/0377-0427(87)90125-7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Hubert &amp; Arabie (1985), Adjusted Rand Index, doi:10.1007/BF01908075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Резултати од outputs/analysis_results.json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[Предвидено време: 0:55]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Собери го расказот во четири реченици. Потсети дека различните модели водат кон комплементарни заклучоци: објаснивост, nonlinear screening, process risk и сегментација. Не прогласувај победник без контекст.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Извори: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Сите метрики: outputs/model_metrics.csv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Оваа страница е важна за одбраната. Објасни што проектот не може да тврди. Кажи точно како бил користен LLM и дека сите резултати се репродуцибилни од кодот и официјалните извори.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Извори:</a:t>
            </a:r>
          </a:p>
          <a:p xmlns:a="http://schemas.openxmlformats.org/drawingml/2006/main">
            <a:r>
              <a:t>• Open-Meteo documentation — https://open-meteo.com/en/docs/historical-weather-api</a:t>
            </a:r>
          </a:p>
          <a:p xmlns:a="http://schemas.openxmlformats.org/drawingml/2006/main">
            <a:r>
              <a:t>• City of Calgary 311 FAQs — https://www.calgary.ca/311/faqs.html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[Предвидено време: 0:30]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Заврши со главната порака и отвори за прашања. Подготви се да ги образложиш: временската поделба, high-demand прагот, изборот на PR-AUC, значењето на Closed и стабилноста на кластерите.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d36d6047844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1d2c40a354a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c122d225646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526a6daf14d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06f33843f47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e21d0fe9648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b574863714f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9f36b41af43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1680720c94c08" /><Relationship Type="http://schemas.openxmlformats.org/officeDocument/2006/relationships/image" Target="/ppt/media/image.png" Id="Rf38d65ac963847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c441719e548ea" /><Relationship Type="http://schemas.openxmlformats.org/officeDocument/2006/relationships/image" Target="/ppt/media/image2.png" Id="R88cde37dfaac457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f38d65ac963847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8cde37dfaac45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5d58d7bf74d67" /><Relationship Type="http://schemas.openxmlformats.org/officeDocument/2006/relationships/slideLayout" Target="/ppt/slideLayouts/slideLayout1.xml" Id="R4100a838bef44afa" /><Relationship Type="http://schemas.openxmlformats.org/officeDocument/2006/relationships/slideLayout" Target="/ppt/slideLayouts/slideLayout2.xml" Id="R780ec3eedad74833" /><Relationship Type="http://schemas.openxmlformats.org/officeDocument/2006/relationships/slideLayout" Target="/ppt/slideLayouts/slideLayout3.xml" Id="R6dd7a3f20bf24920" /><Relationship Type="http://schemas.openxmlformats.org/officeDocument/2006/relationships/slideLayout" Target="/ppt/slideLayouts/slideLayout4.xml" Id="R970cb785c6da4cbf" /><Relationship Type="http://schemas.openxmlformats.org/officeDocument/2006/relationships/slideLayout" Target="/ppt/slideLayouts/slideLayout5.xml" Id="Rd6341979af0e4b4f" /><Relationship Type="http://schemas.openxmlformats.org/officeDocument/2006/relationships/slideLayout" Target="/ppt/slideLayouts/slideLayout6.xml" Id="Rd026809063a74860" /><Relationship Type="http://schemas.openxmlformats.org/officeDocument/2006/relationships/slideLayout" Target="/ppt/slideLayouts/slideLayout7.xml" Id="R4367df3455f446b0" /><Relationship Type="http://schemas.openxmlformats.org/officeDocument/2006/relationships/slideLayout" Target="/ppt/slideLayouts/slideLayout8.xml" Id="R1ed984427a2c421f" /><Relationship Type="http://schemas.openxmlformats.org/officeDocument/2006/relationships/slideLayout" Target="/ppt/slideLayouts/slideLayout9.xml" Id="Rb8c9217abe264efa" /><Relationship Type="http://schemas.openxmlformats.org/officeDocument/2006/relationships/slideLayout" Target="/ppt/slideLayouts/slideLayout10.xml" Id="R12dc5324c69e4a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0a838bef44afa"/>
    <p:sldLayoutId xmlns:r="http://schemas.openxmlformats.org/officeDocument/2006/relationships" id="2147483650" r:id="R780ec3eedad74833"/>
    <p:sldLayoutId xmlns:r="http://schemas.openxmlformats.org/officeDocument/2006/relationships" id="2147483651" r:id="R6dd7a3f20bf24920"/>
    <p:sldLayoutId xmlns:r="http://schemas.openxmlformats.org/officeDocument/2006/relationships" id="2147483652" r:id="R970cb785c6da4cbf"/>
    <p:sldLayoutId xmlns:r="http://schemas.openxmlformats.org/officeDocument/2006/relationships" id="2147483653" r:id="Rd6341979af0e4b4f"/>
    <p:sldLayoutId xmlns:r="http://schemas.openxmlformats.org/officeDocument/2006/relationships" id="2147483654" r:id="Rd026809063a74860"/>
    <p:sldLayoutId xmlns:r="http://schemas.openxmlformats.org/officeDocument/2006/relationships" id="2147483655" r:id="R4367df3455f446b0"/>
    <p:sldLayoutId xmlns:r="http://schemas.openxmlformats.org/officeDocument/2006/relationships" id="2147483656" r:id="R1ed984427a2c421f"/>
    <p:sldLayoutId xmlns:r="http://schemas.openxmlformats.org/officeDocument/2006/relationships" id="2147483657" r:id="Rb8c9217abe264efa"/>
    <p:sldLayoutId xmlns:r="http://schemas.openxmlformats.org/officeDocument/2006/relationships" id="2147483658" r:id="R12dc5324c69e4a1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6617018d047f8" /><Relationship Type="http://schemas.openxmlformats.org/officeDocument/2006/relationships/image" Target="/ppt/media/image.jpeg" Id="Rdd38f343626b4338" /><Relationship Type="http://schemas.openxmlformats.org/officeDocument/2006/relationships/notesSlide" Target="/ppt/notesSlides/notesSlide1.xml" Id="R9fa29a4561bd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c3c435fd14934" /><Relationship Type="http://schemas.openxmlformats.org/officeDocument/2006/relationships/notesSlide" Target="/ppt/notesSlides/notesSlide2.xml" Id="R4eb4a36a8dd3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b3059f5e04b60" /><Relationship Type="http://schemas.openxmlformats.org/officeDocument/2006/relationships/notesSlide" Target="/ppt/notesSlides/notesSlide3.xml" Id="Rfc42504f9a1946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19f65586a849cf" /><Relationship Type="http://schemas.openxmlformats.org/officeDocument/2006/relationships/chart" Target="/ppt/slides/charts/chart1.xml" Id="R901ad17f214b414e" /><Relationship Type="http://schemas.openxmlformats.org/officeDocument/2006/relationships/notesSlide" Target="/ppt/notesSlides/notesSlide4.xml" Id="R7fa1fb360341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d7336932f0840c2" /><Relationship Type="http://schemas.openxmlformats.org/officeDocument/2006/relationships/chart" Target="/ppt/slides/charts/chart2.xml" Id="Re0247a8af2c74db6" /><Relationship Type="http://schemas.openxmlformats.org/officeDocument/2006/relationships/notesSlide" Target="/ppt/notesSlides/notesSlide5.xml" Id="Rf1d02be1070646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860a2d9490e48c5" /><Relationship Type="http://schemas.openxmlformats.org/officeDocument/2006/relationships/chart" Target="/ppt/slides/charts/chart3.xml" Id="Re24f139ba6b04e8a" /><Relationship Type="http://schemas.openxmlformats.org/officeDocument/2006/relationships/notesSlide" Target="/ppt/notesSlides/notesSlide6.xml" Id="R8b6b4570ee1f42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5a13cf1eed4bee" /><Relationship Type="http://schemas.openxmlformats.org/officeDocument/2006/relationships/notesSlide" Target="/ppt/notesSlides/notesSlide7.xml" Id="R0b66f7e91ab3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3f16c6de2413b" /><Relationship Type="http://schemas.openxmlformats.org/officeDocument/2006/relationships/notesSlide" Target="/ppt/notesSlides/notesSlide8.xml" Id="R99260fc8d569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bce2b1c554e82" /><Relationship Type="http://schemas.openxmlformats.org/officeDocument/2006/relationships/notesSlide" Target="/ppt/notesSlides/notesSlide9.xml" Id="Rb767ca82e25e45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5a0517cb246eb" /><Relationship Type="http://schemas.openxmlformats.org/officeDocument/2006/relationships/notesSlide" Target="/ppt/notesSlides/notesSlide10.xml" Id="R5e51244be5a641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MAE</c:v>
          </c:tx>
          <c:spPr>
            <a:solidFill xmlns:a="http://schemas.openxmlformats.org/drawingml/2006/main">
              <a:srgbClr val="2E75B6"/>
            </a:solidFill>
          </c:spPr>
          <c:cat>
            <c:strRef>
              <c:f>'Chart Data'!$A$2:$A$4</c:f>
              <c:strCache>
                <c:ptCount val="3"/>
                <c:pt idx="0">
                  <c:v>Сезонски
baseline</c:v>
                </c:pt>
                <c:pt idx="1">
                  <c:v>Poisson</c:v>
                </c:pt>
                <c:pt idx="2">
                  <c:v>Random
Forest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105.19</c:v>
                </c:pt>
                <c:pt idx="1">
                  <c:v>67.72</c:v>
                </c:pt>
                <c:pt idx="2">
                  <c:v>77.75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244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Weather-only RF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Data'!$A$2:$A$6</c:f>
              <c:strCache>
                <c:ptCount val="5"/>
                <c:pt idx="0">
                  <c:v>ROC-AUC</c:v>
                </c:pt>
                <c:pt idx="1">
                  <c:v>PR-AUC</c:v>
                </c:pt>
                <c:pt idx="2">
                  <c:v>Precision</c:v>
                </c:pt>
                <c:pt idx="3">
                  <c:v>Recall</c:v>
                </c:pt>
                <c:pt idx="4">
                  <c:v>Balanced acc.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0.89</c:v>
                </c:pt>
                <c:pt idx="1">
                  <c:v>0.142</c:v>
                </c:pt>
                <c:pt idx="2">
                  <c:v>0.093</c:v>
                </c:pt>
                <c:pt idx="3">
                  <c:v>0.8</c:v>
                </c:pt>
                <c:pt idx="4">
                  <c:v>0.806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244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Logistic</c:v>
          </c:tx>
          <c:spPr>
            <a:solidFill xmlns:a="http://schemas.openxmlformats.org/drawingml/2006/main">
              <a:srgbClr val="2E75B6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0.446</c:v>
                </c:pt>
                <c:pt idx="1">
                  <c:v>0.355</c:v>
                </c:pt>
                <c:pt idx="2">
                  <c:v>0.396</c:v>
                </c:pt>
                <c:pt idx="3">
                  <c:v>0.299</c:v>
                </c:pt>
              </c:numCache>
            </c:numRef>
          </c:val>
        </c:ser>
        <c:ser>
          <c:idx val="1"/>
          <c:order val="1"/>
          <c:tx>
            <c:v>Decision tree</c:v>
          </c:tx>
          <c:spPr>
            <a:solidFill xmlns:a="http://schemas.openxmlformats.org/drawingml/2006/main">
              <a:srgbClr val="2E7D69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0.133</c:v>
                </c:pt>
                <c:pt idx="1">
                  <c:v>0.773</c:v>
                </c:pt>
                <c:pt idx="2">
                  <c:v>0.227</c:v>
                </c:pt>
                <c:pt idx="3">
                  <c:v>0.197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72B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8f343626b4338"/>
          <a:srcRect xmlns:a="http://schemas.openxmlformats.org/drawingml/2006/main" l="30078" t="0" r="30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C00E-65E2-49C0-99B1-71D4FAE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0"/>
            <a:ext cx="41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D6FE4-4447-473A-A581-19F13B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DC833-4691-4367-AF21-A165A5D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C5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C5E8"/>
                </a:solidFill>
                <a:latin typeface="Arial"/>
                <a:ea typeface="Arial"/>
                <a:cs typeface="Arial"/>
              </a:rPr>
              <a:t>СЕМИНАРСКИ ПРОЕКТ • ПОДАТОЧНО РУДАРЕЊЕ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8AD0C-758B-4472-8913-7BB129B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Calgary 311 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историски временски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податоци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CFFF6-5AAA-4801-A1D6-A78279F8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Побарувачка • високи денови • затворање • профили на заедници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7471F-B7DE-41CE-B099-E9B33CCD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3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0831-5212-4988-BE52-DB19836F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________________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Септември 2026</a:t>
            </a:r>
          </a:p>
        </p:txBody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759C4-CF33-402D-A71C-ACE8120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ИСТРАЖУВАЧКА РАМКА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39D18-9605-49C2-BFF0-EC2BFCC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Четири прашања, еден поврзан систем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7F5BD-77BB-4A32-89E5-7B1EB31C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7AF1-A47C-4E7F-BD0F-5069534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67E0C-9B76-4A29-AEF9-DA74FF53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105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832EA-934D-4265-8578-7EE13C14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B0813-5CEB-4911-8ACD-6AE5D560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8901B-1DDE-4ACD-8DA7-6E14CCD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Дневна побарувачка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B25CA-C3EA-4BC9-A9B1-9F7C0C5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470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Како температурата, снегот и врнежите се поврзани со бројот snow/ice барања?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59DCC-385C-4CF1-8FD1-812127E1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5105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0A0C2-47D2-47BC-B925-C773FAF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A5304-FA24-48AA-B8BC-2E8C0771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5E304-AD59-4955-AFA3-A60B4357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Високи денови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CFCB7-57C5-4637-8064-79A72083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470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Може ли времето да даде рана тревога за невообичаено висока побарувачка?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D30A8-0BAD-4DD7-B5EE-704F9224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05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B8353-1F72-427A-80CD-8E157EC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4D7BC-438E-4517-AA20-3669017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92BC5-EE00-480C-8214-F60D1A5F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Затворање ≤ 7 дена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701CD-0503-4757-9A09-0D5B705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0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Дали информациите при поднесување го рангираат ризикот од бавно затворање?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F34C7-EC6C-4CC6-9A7E-66E2747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105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FED95-C8B2-4A37-8689-73243DA4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D100A-E03F-435E-8FE8-5F369F37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7667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55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55A6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847D4-76E6-4876-A17B-46076A8D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Профили на заедници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BA7F-87ED-41B9-90ED-4E2ED68F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4705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Дали видот и интензитетот на барања откриваат стабилни групи заедници?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EF2A9-116D-4CA7-9DD7-6B99949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CB9A3-2266-4AAB-A473-A66D05A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7DF44-EB2D-4594-A2D7-D962A31A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2B8B6-41B3-458E-9495-B06D506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ДИЗАЈН ПРЕД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2768D-E285-4B21-9CEE-36D515F2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Податоци и поделба без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B0D5E-4E1C-47A2-9F35-1C2C76E9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B1FB1-3D05-4B47-BB3C-BDA3D095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23555-3C51-4DB7-8258-33888D3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Аналитички единици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381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1809750"/>
              </a:tblGrid>
              <a:tr h="571500">
                <a:tc>
                  <a:txBody>
                    <a:bodyPr lIns="95250" tIns="47625" rIns="76200" bIns="47625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Компонента</a:t>
                      </a:r>
                    </a:p>
                  </a:txBody>
                  <a:tcPr marL="91440" marR="91440" marT="45720" marB="45720" anchor="ctr">
                    <a:solidFill>
                      <a:srgbClr val="0B2447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solidFill>
                      <a:srgbClr val="0B2447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Обем</a:t>
                      </a:r>
                    </a:p>
                  </a:txBody>
                  <a:tcPr marL="91440" marR="91440" marT="45720" marB="45720" anchor="ctr">
                    <a:solidFill>
                      <a:srgbClr val="0B2447"/>
                    </a:solidFill>
                  </a:tcPr>
                </a:tc>
              </a:tr>
              <a:tr h="571500"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Snow/ice по ден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2018–2025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226,985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Closure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2021–2025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2,513,718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71500"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Community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2018–2025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ERA5 време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дневно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12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 точка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01232-37BE-47A6-A539-A6EFC356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39814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7D61E-592F-4507-B183-2E3CCAD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6667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84C7F-79B0-44CB-BB73-BA27F365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287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ВРЕМЕНСКА ПОДЕЛБА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03E6D-2168-45DB-AC34-E1EB4381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5814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Train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2018–2023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2024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2025 — допрен еднаш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4251D-F08C-4B33-A067-FEAFA92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70E42-77B5-4DA1-AAFC-D7513C2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10B2F-E5A2-408D-AA68-E5618EE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8225F-275D-48D5-A5DD-5456CC7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01AB-ED91-4D89-AE0B-D84D072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Прагот за Q2, ретките категории, скалирањето и hyperparameters се учат без test.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E02E1-0F82-4F9F-86A5-131D2F85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4381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9E27A-3C8E-497A-B65D-DF7F1751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Closure date → само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F801E-9769-47C6-BC20-60FA36E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82C84-C5C7-40CA-BFDF-C7E70E0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61C45-C29A-485F-9999-09374DB6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DA035-9253-48DC-A3EC-2C90EDE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ДНЕВНА COUNT-РЕГРЕСИЈА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53AE4-0079-470E-99F8-AAF65BE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Q1 — Времето помага, но не ја објаснува целата побарувачка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46DD-43C0-460F-AE91-2AB7C2C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7C782-09E0-4C2F-A3D4-2A6A8BE3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6381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1ad17f214b414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A8C2C-1852-4A05-A198-058A73FE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Test MAE 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F227F-364D-4E61-8C93-F67BEA14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9814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46BCD-61FE-412E-8B02-DE21805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C07A5-5262-41AA-8EE0-FD6D310A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811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НАЈДОБАР COUNT МОДЕЛ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C4720-265F-44B9-9C13-86DEAD7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MAE 67.7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B8EBD-21D0-4EDB-985D-7FAA5C74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3581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Poisson: ~36% подобрување над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52F34-2D7D-48D5-83AB-36D4A284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39814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8F6D5-766C-4C72-A461-7CF48A1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95888-9B5F-4781-86AA-87155BD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813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НАЈСИЛНИ СИГНАЛИ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71BB3-F38B-40DD-8799-2C7959F6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35814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  Годишна сезоналност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  Температура од претходен ден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3  Тековна температура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4  Снег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3BABB-DEDD-4A77-805D-14CB34CD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81625"/>
            <a:ext cx="3981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F2676-9341-4FCE-9C09-E4D5E7F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4830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R² = 0.296 → корисно, не доволно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FEB30-4082-4F96-A02B-A3D8D6C5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Одговор: студот и сезоната се поврзани со повеќе барања; врвовите остануваат тешки.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B6E55-8B4F-434F-AD58-19DBE9A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D14DB-AAA0-42F2-ABCA-E34ABAA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D7E9F-DDB3-4616-9B87-B7DA9D9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BD92F-8C1A-4C95-A774-2147F0B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НЕБАЛАНСИРАНА КЛАСИФИКАЦИЈА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95B9C-95F1-4808-90E4-4BA95BB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Q2 — Рана тревога со висок recall, но многу false positives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A0AAB-7C67-42E4-9E20-B6CC368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3611-CCBD-4CD8-B7A3-C1E4527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2B8A9-DA11-4D0A-A09E-752A837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05CB6-A464-491A-A745-019E079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15176-F24A-4A2A-8C72-4C8BCA0B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HIGH-DEMAND ПРАГ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60835-E4E4-4CC6-847E-372C3602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≥ 480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711EC-B325-4677-859F-9EE0657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95-ти перцентил од 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DFA53-7D0B-4D00-85DA-BEC01DB9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F0C4F-D443-41ED-83A9-60C3D0A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F36BE-FC86-4674-A8FF-36E1B1D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TEST PREVALENCE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9D7B3-B04F-4AEF-ABBC-3AE207C6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2.36%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CB3EC-CD3A-4085-AD67-1605833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само 5 дена во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D121E-3ED8-48BF-8195-D0E353E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EF793-5AAA-471F-B805-355D53E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CCD1C-0F95-480A-A0CC-26A0985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ФАТЕНИ ВИСОКИ ДЕНОВИ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73C3C-5623-4C86-B428-CF517BF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46671-567D-4065-A84A-32B5D010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weather-only Random Forest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905250" y="1619250"/>
          <a:ext xmlns:a="http://schemas.openxmlformats.org/drawingml/2006/main" cx="76009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247a8af2c74db6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70862-D2B4-4FFC-B009-453996D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38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Weather-only Random Forest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5D877-4839-45F7-8E71-FE244C16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81625"/>
            <a:ext cx="7600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9D9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0D0D7-2295-4A7C-8700-5F20375B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2600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61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Оперативна смисла: broad alert + човечка потврда; не автоматско активирање ресурси.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4E845-4874-420F-9E93-C8A34977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24949-9CC2-44D0-9E25-B10082F0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74412-1D77-471B-AADE-F586CAE1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B47CD-656B-471B-A37B-10483C8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ЗАТВОРАЊЕ ВО РОК ОД 7 ДЕНА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3D0B5-BF11-42F6-B83D-ED3EC7D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Q3 — Service и agency најмногу го рангираат ризикот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83C94-EBA4-44D2-B600-D750404D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0F7EB-E65F-42F0-857C-557E8CC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6477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4f139ba6b04e8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E9179-F8D0-4E14-AC6F-CDEEB88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981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60109-BBB5-40EF-A4DC-399905F4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9992E-DD26-4A0E-AA29-494A3FEE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811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LOGISTIC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B3950-C710-4725-A3E4-302E866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ROC-AUC 0.925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5BA88-05A7-423B-A043-B350DDC5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попрецизно рангирање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58276-5749-49F6-87D6-BCBD5210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3981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ED575-EBA1-476B-80CD-AB87B37A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752CD-A2DE-4178-AC8B-C64A623F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813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DECISION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024DC-3CE7-46DF-B403-B43E42C6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Recall 0.773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5BF09-0352-4CC8-A163-0AA6881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фаќа повеќе бавни случаи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0D71C-85DE-4CE7-B966-6438B853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Највисоки slow стапки во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1686-0314-437D-B5C7-9B69C802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311 Contact 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7D50E-091E-4DDA-A2F8-01730DD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534025"/>
            <a:ext cx="260204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00D80-EC5B-4455-9C7C-B3775FD7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959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47.1%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5CA9B-19B2-40BE-AE4B-6B11EE7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New signal/light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F6833-AED3-43EE-B244-587596D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72150"/>
            <a:ext cx="25357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F3F1F-5B27-4E38-A1B9-469D460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7340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45.9%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09956-611A-414F-ABE2-5274CE28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Sidewalk/curb/gutter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6763C-7A4E-44E0-9C04-6B7807C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10275"/>
            <a:ext cx="149714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71775-0C86-4716-980A-8B2094D5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9721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27.1%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E7FE1-A8FE-4DDA-AE00-4978AD1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3981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9D9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564D8-5E7A-4FF1-8EBC-809AAA4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10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„Closed“ е административен статус — не мора да значи физички завршена работа.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A8C7A-2FFA-418B-A3A3-B0DB1A4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11A25-32FE-47BA-8975-B07A27E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4F7AD-D488-4D70-AB4E-CCE9E041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6AC64-CFD2-4E52-9D8E-DF2371D4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КЛАСТЕРИРАЊЕ НА 261 ЗАЕДНИЦА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E627E-EEA3-4B5F-A573-D9A79F8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Q4 — Три интерпретабилни, но не фиксни профили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D2CB5-5C0C-4F48-B988-6692384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A6FB7-BF45-4E0B-931B-BD126D7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4F7C0-BAA0-48BC-8E1F-66FEADEE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14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2D390-E051-4DE4-BF55-280D6D6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C335-2D35-4B16-8B28-8C2226D0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КЛАСТЕР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D667F-2D33-4947-9026-CA4383A6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8 заедници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871D7-0A14-40CD-BF3C-2B5F074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Нови / растечки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Висока варијабилност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Waste + tax mix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3656C-239D-4FBE-B769-F3EE9F2A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314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08BF2-BD95-4C98-BAF5-5ADB8723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2CDE8-7E7F-4FC3-BBB2-0B22CF76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811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КЛАСТЕР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6D8C8-EB6C-43AE-8C08-12BC27F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478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178 заедници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586CC-B78C-47F0-B4C7-326EFC35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Воспоставени / повисок обем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Cart + waste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Медијана 2,012 годишно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BC228-EF5E-4B54-BBB8-831F988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314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AC6DC-1591-4504-AD42-E97A3218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BAE23-D973-44F7-9CD2-E7254560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811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КЛАСТЕР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5390B-3744-419E-9DBD-F53D5009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478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75 заедници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03034-D3BA-4D3B-92C1-796BB9B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Урбани / mobility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Downtown, Beltline…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Медијана 554 годишно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09AC5-A33F-47CB-A844-9571A85B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Стабилност и разделување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2887E-14F7-479B-8718-2959317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0E68D-1048-4C33-A1F5-83B8B094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Silhouette 0.282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47E55-D987-4291-ADCD-51C6FF4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DC516-26E0-432F-A12B-BE73267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Ward ARI 0.732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AAB5F-877D-4C03-8C49-882BA2BD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197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A6598-268C-42D3-8F8D-D6F4F64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86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Temporal ARI 0.411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007B5-2322-42F3-9E92-9F8DC66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2781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FA024-8CAB-40FB-BBC8-7593810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482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Без population denominator:</a:t>
            </a:r>
          </a:p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интензитет ≠ стапка по жител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1DCB2-A277-42F2-8CDF-2BB9686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Одговор: кластерите се корисни за опис и планирање, но треба повторно да се проценуваат.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BC14B-5F18-4993-9BAB-AE3BE3C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C6D19-9F8F-4B74-B3CD-8C0C1DF1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4989E-B709-4F71-AAF8-3045857D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31125-6783-465C-A23F-5B739C8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СИНТЕЗА НА ЧЕТИРИТЕ ОДГОВОРИ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914B-68E5-46E5-B97D-370093F9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Што всушност научивме?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9EB1C-6CA1-44A6-818A-5F8A93D7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C4CB1-AA00-4CAE-8CA7-1713D5E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A49B-0A3A-4DA5-B159-FCC5331E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05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025AC-7DC5-4EDE-A1D6-A2BDC8D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88787-BE07-4879-B1E4-9C57937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2641A-4A59-46E9-9BE8-C44BE2FE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~36%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5BCD1-127C-471B-82ED-9213CC98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пониска MAE од baseline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Времето носи умерен, реален сигнал.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B5716-AAB4-4486-B9CC-46E0C88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105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9A889-E789-436D-8AC9-1FCF8D78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3C1A1-942C-4946-AA96-4C9E2EE7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8117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F1E08-D076-47B7-8BAB-A74484AF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D96F7-2E90-431C-9538-1BED51C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високи test денови фатени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Broad alert, не автоматска одлука.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374BD-8FB7-4A4D-9D5D-26A73628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105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867A0-9AC4-4115-8DA4-A48719F3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0E56B-3533-4392-A463-AE21519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338E8-E696-4CDD-B7DB-9FB540A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0.925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9F5AF-BC2C-4761-A20D-C0B1A11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ROC-AUC за logistic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Service/agency го рангираат ризикот.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F88F3-F3CE-4531-9A62-2CFD637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5105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42FE1-FA8A-4D30-AAB5-A966164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B7739-DD3E-41C4-BE3C-F30F481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55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755A6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631C7-3109-41EC-A96B-F93CE55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0189C-4841-47B5-8E1C-525631B3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62475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описни профили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Интерпретабилни, умерено стабилни.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F297F-D439-4E8B-A98B-C28C4EE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2447"/>
          </a:solidFill>
          <a:ln xmlns:a="http://schemas.openxmlformats.org/drawingml/2006/main" w="9525">
            <a:solidFill>
              <a:srgbClr val="0B24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B76F5-AE5D-4961-AA4C-7CD00F3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150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Главен принцип: моделот е алатка за аргументиран одговор — не крајниот одговор.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169A8-B9E6-4538-9B8F-C4D7FC5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22A5D-204A-4D5F-9854-18CC8E63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0DFAE-7A03-47F9-A3DB-552F79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F88CF-6C54-4759-95C5-CA92990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ОДГОВОРНА ИНТЕРПРЕТАЦИЈА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91342-1C74-4F94-BE83-2A86DCF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Ограничувањата се дел од резултатот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A2478-FC96-4282-9A70-C83C399C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9FFE0-C759-4C0E-9759-B294D34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C8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D94FE-FCBB-4217-B93E-68624B8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147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624EA-5D7E-47C7-B2D0-1E0CC0ED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FA70E-3AD4-4CA7-846D-93AC0A8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ПОДАТОЦИ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A5BCA-5D82-4902-A844-1D430F0A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9146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ERA5: една градска точка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Нема микроклима / street condition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Нема population denominator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Можно менување на 311 категории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25B7B-B636-4DD0-B62E-FFFCEF5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3147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C3B50-CE3E-406C-9409-50FB89E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AD322-AEEF-43C6-AB1C-36EC90B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811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ЗАКЛУЧУВАЊЕ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D424B-F679-4D10-B953-0E667545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29146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Асоцијација ≠ причински ефект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Само 5 high-demand test дена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Concept drift низ години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Кластерите не се фиксни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7150A-087C-4E5E-90C4-7DDA3794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5814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2667-9D01-49CD-9B3E-89B5704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69BDE-57FB-402B-8425-5A03091A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811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69"/>
                </a:solidFill>
                <a:latin typeface="Arial"/>
                <a:ea typeface="Arial"/>
                <a:cs typeface="Arial"/>
              </a:rPr>
              <a:t>ОДГОВОРНА УПОТРЕБА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28C13-8115-48B0-89C4-169C35D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813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Human-in-the-loop аларми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Threshold според трошок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Следење на drift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• Модел за услуги, не за граѓани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6C1C6-DF1C-46FC-A78A-A4DE9C2C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9F34D-D4C2-4B06-BAE4-DC940162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4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447"/>
                </a:solidFill>
                <a:latin typeface="Arial"/>
                <a:ea typeface="Arial"/>
                <a:cs typeface="Arial"/>
              </a:rPr>
              <a:t>LLM употреба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5F230-5F6E-489C-80B1-70D4CF5E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Планирање • проверка на методологија • организација на код • редакција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B7675-9080-4523-915C-C8AB9C4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17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Бројките се произведени од скриптите и се проверливи; LLM не е извор на емпириски резултати.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28CB1-B69B-47C0-819A-7BEE375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0AF75-9B7C-476C-B4E6-E7B9102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E1EEE-9E6F-436A-8D2B-DD6BBD48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C4E0F-E593-4D9D-B834-2F4F4917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C5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C5E8"/>
                </a:solidFill>
                <a:latin typeface="Arial"/>
                <a:ea typeface="Arial"/>
                <a:cs typeface="Arial"/>
              </a:rPr>
              <a:t>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E9C3-328B-448E-A282-B66B9B8D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Времето помага да ја разбереме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побарувачката — контекстот кажува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како да го користиме моделот.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12C97-8B18-43BE-9C39-EA7CF7F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13C9-3E43-44EF-AB86-81F5B29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EC5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EC5E8"/>
                </a:solidFill>
                <a:latin typeface="Arial"/>
                <a:ea typeface="Arial"/>
                <a:cs typeface="Arial"/>
              </a:rPr>
              <a:t>Прашања?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BE9CA-6054-4EC8-B3F1-53148D6C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Код • тетратка • семинарска работа • репродуктивна околина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0E36E-4E17-4577-8280-C5CF59D3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C6E81-7239-459E-9A77-46EF94B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3E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D3EB"/>
                </a:solidFill>
                <a:latin typeface="Arial"/>
                <a:ea typeface="Arial"/>
                <a:cs typeface="Arial"/>
              </a:rPr>
              <a:t>Calgary 311 • Податочно рударење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30883-B043-48A8-B2BD-B889B1F4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8D3E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8D3E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2026-09-14T12:43:17.5500000Z</dcterms:created>
  <dcterms:modified xsi:type="dcterms:W3CDTF">2026-09-14T12:43:17.5500000Z</dcterms:modified>
</coreProperties>
</file>